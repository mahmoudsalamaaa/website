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8" r:id="rId19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68580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ADDDD7"/>
                </a:solidFill>
                <a:latin typeface="Aptos"/>
              </a:rPr>
              <a:t>EXECUTIVE TECHNOLOGY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6766560" cy="11887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Mahmoud
Salama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6217920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000" b="0">
                <a:solidFill>
                  <a:srgbClr val="DAE7ED"/>
                </a:solidFill>
                <a:latin typeface="Aptos"/>
              </a:rPr>
              <a:t>Technology leadership built on
hands-on engineering depth.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57800"/>
            <a:ext cx="667512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ADDDD7"/>
                </a:solidFill>
                <a:latin typeface="Aptos"/>
              </a:rPr>
              <a:t>Technology Leadership  •  Digital Transformation  •  Enterprise Platforms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66751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DAE7ED"/>
                </a:solidFill>
                <a:latin typeface="Aptos"/>
              </a:rPr>
              <a:t>Cairo, Egypt  |  ma7moud.salamaaa@gmail.com  |  +20 122 015 6077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731520"/>
            <a:ext cx="31089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CAREER 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41732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18+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527048"/>
            <a:ext cx="12801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D6F2EE"/>
                </a:solidFill>
                <a:latin typeface="Aptos"/>
              </a:rPr>
              <a:t>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56032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670048"/>
            <a:ext cx="12801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D6F2EE"/>
                </a:solidFill>
                <a:latin typeface="Aptos"/>
              </a:rPr>
              <a:t>TECH 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370332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3813048"/>
            <a:ext cx="12801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D6F2EE"/>
                </a:solidFill>
                <a:latin typeface="Aptos"/>
              </a:rPr>
              <a:t>DIRECT REPORTS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84632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4956048"/>
            <a:ext cx="12801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D6F2EE"/>
                </a:solidFill>
                <a:latin typeface="Aptos"/>
              </a:rPr>
              <a:t>SUPPORT + CX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EXECUTIVE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Build. Lead. Operate. Transform.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858000" cy="10058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C1F30"/>
                </a:solidFill>
                <a:latin typeface="Aptos"/>
              </a:rPr>
              <a:t>From software engineering to national-scale technology leadership - without losing technical fluency.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6217920" cy="1371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47380"/>
                </a:solidFill>
                <a:latin typeface="Aptos"/>
              </a:rPr>
              <a:t>A career spanning .NET engineering, e-government delivery, enterprise architecture, national platforms, data and integration, customer service, technical support and digital transformation across Egypt and Oman.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737360"/>
            <a:ext cx="3977639" cy="105156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3800" y="1737360"/>
            <a:ext cx="50292" cy="105156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892807"/>
            <a:ext cx="3611879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267712"/>
            <a:ext cx="3611879" cy="41147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Software, platforms, databases, APIs, integrations and reusable foundations.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907792"/>
            <a:ext cx="3977639" cy="105156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2907792"/>
            <a:ext cx="50292" cy="105156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3063240"/>
            <a:ext cx="3611879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438144"/>
            <a:ext cx="3611879" cy="41147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Teams, roadmaps, delivery governance, architecture, vendors and stakeholders.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078224"/>
            <a:ext cx="3977639" cy="105156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43800" y="4078224"/>
            <a:ext cx="50292" cy="105156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4233672"/>
            <a:ext cx="3611879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OPERATE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608576"/>
            <a:ext cx="3611879" cy="41147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Customer service, technical support, incidents, training, adoption and continuity.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248656"/>
            <a:ext cx="3977639" cy="105156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43800" y="5248656"/>
            <a:ext cx="50292" cy="105156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5404104"/>
            <a:ext cx="3611879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TRANSFORM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5779008"/>
            <a:ext cx="3611879" cy="41147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Processes, enterprise platforms, data, governance and institutional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UPA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National technology leadership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~60K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951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enterprise scale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7373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74519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~90K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2951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FACILITIES / ENTITIES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5237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enterprise scale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874519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951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SUPPLIERS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237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enterprise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39" y="17373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9" y="1874519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9" y="22951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TRANSACTIONS /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5237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operating 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337560"/>
            <a:ext cx="50292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8998B"/>
                </a:solidFill>
                <a:latin typeface="Aptos"/>
              </a:rPr>
              <a:t>LEADERSHIP OPERATING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947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93192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3525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TECHNOLOGY ORGANIZATION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811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current total team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37947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393192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3525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DIRECT REPORTS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5811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current reporting structure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794760"/>
            <a:ext cx="251460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931920"/>
            <a:ext cx="22402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352544"/>
            <a:ext cx="22402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SUPPORT + CUSTOMER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581144"/>
            <a:ext cx="22402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inside the 54-person organization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3794760"/>
            <a:ext cx="233172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9720" y="3794760"/>
            <a:ext cx="50292" cy="114300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3950208"/>
            <a:ext cx="19659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ONE OPERATING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4325112"/>
            <a:ext cx="1965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Strategy + architecture + delivery + service operations + data + governance.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CAREER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Progressively wider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063240"/>
            <a:ext cx="10149840" cy="54864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852928"/>
            <a:ext cx="310896" cy="310896"/>
          </a:xfrm>
          <a:prstGeom prst="round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73736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8998B"/>
                </a:solidFill>
                <a:latin typeface="Aptos"/>
              </a:rPr>
              <a:t>2011-16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05740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KEYFRAME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429000"/>
            <a:ext cx="2468880" cy="6583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Development Team Leader + Senior Full-Stack 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4224528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6-person team | 150+ major &amp; mid-sized engagements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852928"/>
            <a:ext cx="310896" cy="310896"/>
          </a:xfrm>
          <a:prstGeom prst="round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152" y="173736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8998B"/>
                </a:solidFill>
                <a:latin typeface="Aptos"/>
              </a:rPr>
              <a:t>2016-20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205740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INTEGRAL / OMAN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3429000"/>
            <a:ext cx="2468880" cy="6583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Development Team Leader + Senior Full-Stack 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4224528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10+ developers | 15+ government/enterprise platforms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852928"/>
            <a:ext cx="310896" cy="310896"/>
          </a:xfrm>
          <a:prstGeom prst="round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73736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8998B"/>
                </a:solidFill>
                <a:latin typeface="Aptos"/>
              </a:rPr>
              <a:t>2020-25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05740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UPA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3429000"/>
            <a:ext cx="2468880" cy="6583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General Manager - Information Systems &amp; Digital Transformation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4224528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Applications, systems, technical support, customer 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2852928"/>
            <a:ext cx="310896" cy="310896"/>
          </a:xfrm>
          <a:prstGeom prst="round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173736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8998B"/>
                </a:solidFill>
                <a:latin typeface="Aptos"/>
              </a:rPr>
              <a:t>2025-NOW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2057400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UPA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429000"/>
            <a:ext cx="2468880" cy="6583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C1F30"/>
                </a:solidFill>
                <a:latin typeface="Aptos"/>
              </a:rPr>
              <a:t>Head of Central Administration - IS &amp; Digital Transformation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4224528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Strategy, architecture, delivery, service operations,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UPA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Technology as an enterprise operating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206240" cy="6400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0C1F30"/>
                </a:solidFill>
                <a:latin typeface="Aptos"/>
              </a:rPr>
              <a:t>Current executive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164592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8998B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800600" cy="42062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1A2530"/>
                </a:solidFill>
                <a:latin typeface="Aptos"/>
              </a:rPr>
              <a:t>Technology strategy &amp; digital-transformation roadmaps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53512"/>
            <a:ext cx="164592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8998B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53512"/>
            <a:ext cx="4800600" cy="42062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1A2530"/>
                </a:solidFill>
                <a:latin typeface="Aptos"/>
              </a:rPr>
              <a:t>Enterprise &amp; solution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83864"/>
            <a:ext cx="164592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8998B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83864"/>
            <a:ext cx="4800600" cy="42062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1A2530"/>
                </a:solidFill>
                <a:latin typeface="Aptos"/>
              </a:rPr>
              <a:t>SDLC, portfolio and release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14215"/>
            <a:ext cx="164592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8998B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5"/>
            <a:ext cx="4800600" cy="42062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1A2530"/>
                </a:solidFill>
                <a:latin typeface="Aptos"/>
              </a:rPr>
              <a:t>Data governance, reporting &amp; integrations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44568"/>
            <a:ext cx="164592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8998B"/>
                </a:solidFill>
                <a:latin typeface="Apto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44568"/>
            <a:ext cx="4800600" cy="42062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1A2530"/>
                </a:solidFill>
                <a:latin typeface="Aptos"/>
              </a:rPr>
              <a:t>Security controls, continuity &amp; technology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20"/>
            <a:ext cx="164592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8998B"/>
                </a:solidFill>
                <a:latin typeface="Apto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4800600" cy="42062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1A2530"/>
                </a:solidFill>
                <a:latin typeface="Aptos"/>
              </a:rPr>
              <a:t>Vendor, stakeholder &amp; executive KPI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737360"/>
            <a:ext cx="2514600" cy="123444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1737360"/>
            <a:ext cx="50292" cy="123444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892807"/>
            <a:ext cx="21488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NATIONAL PLATFORMS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267712"/>
            <a:ext cx="21488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Procurement and medical-supply platforms.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1737360"/>
            <a:ext cx="2514600" cy="123444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5400" y="1737360"/>
            <a:ext cx="50292" cy="123444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1892807"/>
            <a:ext cx="21488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DYNAMICS 365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267712"/>
            <a:ext cx="21488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Enterprise data and workflow integration.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246120"/>
            <a:ext cx="2514600" cy="123444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246120"/>
            <a:ext cx="50292" cy="123444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401568"/>
            <a:ext cx="21488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HTA DIGITISATION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776472"/>
            <a:ext cx="21488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Workflow digitisation and evidence processes.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15400" y="3246120"/>
            <a:ext cx="2514600" cy="123444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5400" y="3246120"/>
            <a:ext cx="50292" cy="123444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3401568"/>
            <a:ext cx="21488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TRACK &amp; 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776472"/>
            <a:ext cx="21488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Multi-agency governance and interoperability.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754880"/>
            <a:ext cx="5257800" cy="123444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754880"/>
            <a:ext cx="50292" cy="123444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910328"/>
            <a:ext cx="48920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ANALYTICS + REPORTING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285232"/>
            <a:ext cx="48920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Reporting architecture, reconciliation, data quality, operational analytics and executive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ADDDD7"/>
                </a:solidFill>
                <a:latin typeface="Aptos"/>
              </a:rPr>
              <a:t>CUSTOMER SERVICE + TECHNICAL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7498079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Service ownership is a core
leadership responsibility.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585216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DAE7ED"/>
                </a:solidFill>
                <a:latin typeface="Aptos"/>
              </a:rPr>
              <a:t>Not a side note. A ~20-person operation inside the 54-person technology organization - connecting users, operations and engineering.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9476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5254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8114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support/customer-service operation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79476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79" y="393192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435254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458114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enterprise platform users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379476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93192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End-to-end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35254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OWNERSHIP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58114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case intake through adoption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731520"/>
            <a:ext cx="2880360" cy="1170432"/>
          </a:xfrm>
          <a:prstGeom prst="roundRect">
            <a:avLst/>
          </a:prstGeom>
          <a:solidFill>
            <a:srgbClr val="16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5672" y="86868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ADDDD7"/>
                </a:solidFill>
                <a:latin typeface="Aptos"/>
              </a:rPr>
              <a:t>SERVICE DESK / CALL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1207008"/>
            <a:ext cx="25603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>
                <a:solidFill>
                  <a:srgbClr val="FFFFFF"/>
                </a:solidFill>
                <a:latin typeface="Aptos"/>
              </a:rPr>
              <a:t>Technical + functional support, CRM cases, access/data and integration issues.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1080" y="2148840"/>
            <a:ext cx="2880360" cy="1170432"/>
          </a:xfrm>
          <a:prstGeom prst="roundRect">
            <a:avLst/>
          </a:prstGeom>
          <a:solidFill>
            <a:srgbClr val="16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05672" y="228600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ADDDD7"/>
                </a:solidFill>
                <a:latin typeface="Aptos"/>
              </a:rPr>
              <a:t>ESCALATION + 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5672" y="2624328"/>
            <a:ext cx="25603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>
                <a:solidFill>
                  <a:srgbClr val="FFFFFF"/>
                </a:solidFill>
                <a:latin typeface="Aptos"/>
              </a:rPr>
              <a:t>Incident escalation, engineering coordination, root-cause and repeatable procedures.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41080" y="3566160"/>
            <a:ext cx="2880360" cy="1170432"/>
          </a:xfrm>
          <a:prstGeom prst="roundRect">
            <a:avLst/>
          </a:prstGeom>
          <a:solidFill>
            <a:srgbClr val="16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370332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ADDDD7"/>
                </a:solidFill>
                <a:latin typeface="Aptos"/>
              </a:rPr>
              <a:t>ONBOARDING +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5672" y="4041648"/>
            <a:ext cx="25603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>
                <a:solidFill>
                  <a:srgbClr val="FFFFFF"/>
                </a:solidFill>
                <a:latin typeface="Aptos"/>
              </a:rPr>
              <a:t>Nationwide onboarding, training, knowledge transfer and adoption support.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1080" y="4983480"/>
            <a:ext cx="2880360" cy="1170432"/>
          </a:xfrm>
          <a:prstGeom prst="roundRect">
            <a:avLst/>
          </a:prstGeom>
          <a:solidFill>
            <a:srgbClr val="16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5672" y="512064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ADDDD7"/>
                </a:solidFill>
                <a:latin typeface="Aptos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5672" y="5458968"/>
            <a:ext cx="256032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>
                <a:solidFill>
                  <a:srgbClr val="FFFFFF"/>
                </a:solidFill>
                <a:latin typeface="Aptos"/>
              </a:rPr>
              <a:t>Feedback loops, service governance and operational improvement.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OPERATING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Architecture + delivery +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880360"/>
            <a:ext cx="2514600" cy="1325880"/>
          </a:xfrm>
          <a:prstGeom prst="roundRect">
            <a:avLst/>
          </a:prstGeom>
          <a:solidFill>
            <a:srgbClr val="0C1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3154680"/>
            <a:ext cx="205740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ENTERPRISE
TECHNOLOGY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2834640" cy="13258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737360"/>
            <a:ext cx="50292" cy="13258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92807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67712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Enterprise / solution architecture, workflow, RBAC, integration and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2834640" cy="13258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297680"/>
            <a:ext cx="50292" cy="13258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53128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28032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Requirements, SDLC, QA/UAT, release readiness and stabilization.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834640" cy="13258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1737360"/>
            <a:ext cx="50292" cy="13258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1892807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DATA +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2267712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APIs, database design, master data, quality and interoperability.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1080" y="4297680"/>
            <a:ext cx="2834640" cy="13258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4297680"/>
            <a:ext cx="50292" cy="13258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59" y="4453128"/>
            <a:ext cx="24688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SERVICE RELIABILITY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4828032"/>
            <a:ext cx="2468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Support, incident/RCA, release, continuity, training and adoption.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1691640"/>
            <a:ext cx="448056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8998B"/>
                </a:solidFill>
                <a:latin typeface="Aptos"/>
              </a:rPr>
              <a:t>Governance • Security • Risk • AI-enabled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INTEGRAL SOLUTIONS / OMAN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Government platforms - leadership + hands-on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10+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0370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3230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team 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64592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78308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15+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0370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PLATFORMS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79" y="243230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government / enterprise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64592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178308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~1M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20370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PORTAL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43230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Educational Portal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645920"/>
            <a:ext cx="30632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645920"/>
            <a:ext cx="50292" cy="114300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1801368"/>
            <a:ext cx="26974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EMPLOYER / CLIENT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176272"/>
            <a:ext cx="269748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Integral Solutions LLC was the employer; ministries and agencies were client assignments.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337560"/>
            <a:ext cx="516636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337560"/>
            <a:ext cx="50292" cy="114300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493008"/>
            <a:ext cx="4800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Educational Portal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3867911"/>
            <a:ext cx="48006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Analysis, application/database development, reporting, testing, rollout and support.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337560"/>
            <a:ext cx="516636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3337560"/>
            <a:ext cx="50292" cy="114300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493008"/>
            <a:ext cx="4800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Maktabi / Morasalat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867911"/>
            <a:ext cx="48006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Correspondence lifecycle, routing, workflows, reports, database, testing and deployment.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516636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754880"/>
            <a:ext cx="50292" cy="114300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4910328"/>
            <a:ext cx="4800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Recruitment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5285232"/>
            <a:ext cx="48006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End-to-end technical ownership; associated with the Sultan Qaboos Award.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4754880"/>
            <a:ext cx="516636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26480" y="4754880"/>
            <a:ext cx="50292" cy="114300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910328"/>
            <a:ext cx="4800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Al Wahat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285232"/>
            <a:ext cx="480060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Royal Court Affairs - membership, reservations, approvals and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KEYFRAME EGYPT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Reusable engineering at portfolio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0370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3230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confirmed team size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64592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78308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150+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0370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ENGAGEMENTS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79" y="243230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major &amp; mid-sized; small excluded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645920"/>
            <a:ext cx="2377440" cy="114300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1783080"/>
            <a:ext cx="21031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Multiple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203704"/>
            <a:ext cx="2103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18998B"/>
                </a:solidFill>
                <a:latin typeface="Aptos"/>
              </a:rPr>
              <a:t>AWARDS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432304"/>
            <a:ext cx="210312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50" b="0">
                <a:solidFill>
                  <a:srgbClr val="647380"/>
                </a:solidFill>
                <a:latin typeface="Aptos"/>
              </a:rPr>
              <a:t>Yashfeen named 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54680"/>
            <a:ext cx="493776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0C1F30"/>
                </a:solidFill>
                <a:latin typeface="Aptos"/>
              </a:rPr>
              <a:t>Build once. Adapt intelligently.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03320"/>
            <a:ext cx="5029200" cy="10515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380"/>
                </a:solidFill>
                <a:latin typeface="Aptos"/>
              </a:rPr>
              <a:t>Reusable .NET CMS/publishing and conference-management foundations supported delivery across government, healthcare, education, events and commercial sectors.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063240"/>
            <a:ext cx="2606040" cy="11887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3063240"/>
            <a:ext cx="50292" cy="118872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218688"/>
            <a:ext cx="22402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YASHFEEN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593592"/>
            <a:ext cx="2240280" cy="5486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Healthcare portal delivered independently and recognized in an ITIDA competition.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3063240"/>
            <a:ext cx="2606040" cy="11887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69680" y="3063240"/>
            <a:ext cx="50292" cy="118872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59" y="3218688"/>
            <a:ext cx="22402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CONFERENCE 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59" y="3593592"/>
            <a:ext cx="2240280" cy="5486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Registration, schedules, speakers, evaluation, certificates and reporting.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4526280"/>
            <a:ext cx="2606040" cy="11887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4526280"/>
            <a:ext cx="50292" cy="118872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681728"/>
            <a:ext cx="22402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GOVERNMENT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056632"/>
            <a:ext cx="2240280" cy="5486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MOHP, MSAD, public-service and institutional initiatives.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69680" y="4526280"/>
            <a:ext cx="2606040" cy="11887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69680" y="4526280"/>
            <a:ext cx="50292" cy="118872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59" y="4681728"/>
            <a:ext cx="22402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COMMERCIAL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59" y="5056632"/>
            <a:ext cx="2240280" cy="5486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Electrolux multi-country websites and numerous business systems.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CAPABILITY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Executive breadth backed by technical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383280" cy="15544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0292" cy="15544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4708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STRATEGY +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21992"/>
            <a:ext cx="301752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Roadmaps, portfolios, operating models, stakeholders, controls and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91640"/>
            <a:ext cx="3383280" cy="15544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91640"/>
            <a:ext cx="50292" cy="155448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ENTERPRISE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21992"/>
            <a:ext cx="301752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Configurable platforms, solution architecture, workflow/RBAC and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91640"/>
            <a:ext cx="3383280" cy="15544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691640"/>
            <a:ext cx="50292" cy="15544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84708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ENGINEERING +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221992"/>
            <a:ext cx="301752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t>C#/.NET, JavaScript, React, Node.js, REST/GraphQL APIs, Docker, CI/CD and production delivery.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657600"/>
            <a:ext cx="3383280" cy="15544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57600"/>
            <a:ext cx="50292" cy="155448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DATA + 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87952"/>
            <a:ext cx="301752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t>SQL Server, PostgreSQL, MySQL, Redis, data quality, reporting, REST/SOAP and interoperability.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3657600"/>
            <a:ext cx="3383280" cy="15544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3657600"/>
            <a:ext cx="50292" cy="155448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381304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SERVICE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187952"/>
            <a:ext cx="301752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Customer service, support, incidents, training, adoption and continuity.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657600"/>
            <a:ext cx="3383280" cy="155448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657600"/>
            <a:ext cx="50292" cy="155448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381304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AI-ENABLED 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187952"/>
            <a:ext cx="301752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t>Applied AI, prompt engineering, coding/analysis assistance, automation, SQL and controlled enterprise adoption.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18998B"/>
                </a:solidFill>
                <a:latin typeface="Aptos"/>
              </a:rPr>
              <a:t>GOVERNANCE +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51560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>
                <a:solidFill>
                  <a:srgbClr val="0C1F30"/>
                </a:solidFill>
                <a:latin typeface="Aptos"/>
              </a:rPr>
              <a:t>Institutional contribution beyond platform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11480"/>
            <a:ext cx="457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53312"/>
            <a:ext cx="10972800" cy="18288"/>
          </a:xfrm>
          <a:prstGeom prst="rect">
            <a:avLst/>
          </a:prstGeom>
          <a:solidFill>
            <a:srgbClr val="DAE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700" b="1">
                <a:solidFill>
                  <a:srgbClr val="647380"/>
                </a:solidFill>
                <a:latin typeface="Aptos"/>
              </a:rPr>
              <a:t>MAHMOUD SALAMA  /  EXECUTIVE TECHNOLOGY PORTFOLIO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383280" cy="14173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0292" cy="141732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4708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B-READY / EGYPT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21992"/>
            <a:ext cx="301752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Egypt-side digital-transformation committee contribution supporting the World Bank Group B-READY assessment.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383280" cy="14173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50292" cy="1417320"/>
          </a:xfrm>
          <a:prstGeom prst="rect">
            <a:avLst/>
          </a:prstGeom>
          <a:solidFill>
            <a:srgbClr val="C38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84708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TRACK &amp; 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221992"/>
            <a:ext cx="301752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Multi-agency governance/interoperability contribution involving national stakeholders.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4736" y="1691640"/>
            <a:ext cx="3383280" cy="1417320"/>
          </a:xfrm>
          <a:prstGeom prst="roundRect">
            <a:avLst/>
          </a:prstGeom>
          <a:solidFill>
            <a:srgbClr val="F2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691640"/>
            <a:ext cx="50292" cy="1417320"/>
          </a:xfrm>
          <a:prstGeom prst="rect">
            <a:avLst/>
          </a:prstGeom>
          <a:solidFill>
            <a:srgbClr val="18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1847088"/>
            <a:ext cx="30175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C1F30"/>
                </a:solidFill>
                <a:latin typeface="Aptos"/>
              </a:rPr>
              <a:t>BLOOD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2221992"/>
            <a:ext cx="3017520" cy="7772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380"/>
                </a:solidFill>
                <a:latin typeface="Aptos"/>
              </a:rPr>
              <a:t>Governance and oversight contribution at national level.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8998B"/>
                </a:solidFill>
                <a:latin typeface="Aptos"/>
              </a:rPr>
              <a:t>RECOGNITION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4754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Sultan Qaboos Award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92040"/>
            <a:ext cx="475488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380"/>
                </a:solidFill>
                <a:latin typeface="Aptos"/>
              </a:rPr>
              <a:t>Associated with the Oman Ministry of Education Recruitment 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4160520"/>
            <a:ext cx="475488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0C1F30"/>
                </a:solidFill>
                <a:latin typeface="Aptos"/>
              </a:rPr>
              <a:t>Yashfeen / ITIDA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892040"/>
            <a:ext cx="475488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380"/>
                </a:solidFill>
                <a:latin typeface="Aptos"/>
              </a:rPr>
              <a:t>Confirmed named award-recognized Keyframe 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3657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ADDDD7"/>
                </a:solidFill>
                <a:latin typeface="Aptos"/>
              </a:rPr>
              <a:t>EXECUTIVE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8046720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Engineering depth.
Executive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6766560" cy="10515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DAE7ED"/>
                </a:solidFill>
                <a:latin typeface="Aptos"/>
              </a:rPr>
              <a:t>A technology leader who can connect strategy to architecture, architecture to delivery, delivery to operations, and operations back to the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68580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ADDDD7"/>
                </a:solidFill>
                <a:latin typeface="Aptos"/>
              </a:rPr>
              <a:t>mahmoud-salama.vercel.app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85232"/>
            <a:ext cx="68580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DAE7ED"/>
                </a:solidFill>
                <a:latin typeface="Aptos"/>
              </a:rPr>
              <a:t>linkedin.com/in/mahmoud-salama-30249b34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15000"/>
            <a:ext cx="68580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DAE7ED"/>
                </a:solidFill>
                <a:latin typeface="Aptos"/>
              </a:rPr>
              <a:t>ma7moud.salamaaa@gmail.com  |  +20 122 015 6077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14300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18+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1280160"/>
            <a:ext cx="11887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ADDDD7"/>
                </a:solidFill>
                <a:latin typeface="Aptos"/>
              </a:rPr>
              <a:t>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51460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60" y="2651760"/>
            <a:ext cx="11887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ADDDD7"/>
                </a:solidFill>
                <a:latin typeface="Aptos"/>
              </a:rPr>
              <a:t>TECH 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886200"/>
            <a:ext cx="182880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~20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5560" y="4023360"/>
            <a:ext cx="11887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00" b="1">
                <a:solidFill>
                  <a:srgbClr val="ADDDD7"/>
                </a:solidFill>
                <a:latin typeface="Aptos"/>
              </a:rPr>
              <a:t>SUPPORT + CX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TECHNOLOGY BREADTH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02A43"/>
                </a:solidFill>
              </a:defRPr>
            </a:pPr>
            <a:r>
              <a:t>Verified capabilities across engineering, platforms, data, operations and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41148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36273"/>
                </a:solidFill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349240" cy="1234440"/>
          </a:xfrm>
          <a:prstGeom prst="roundRect">
            <a:avLst/>
          </a:prstGeom>
          <a:solidFill>
            <a:srgbClr val="F2F6F8"/>
          </a:solidFill>
          <a:ln>
            <a:solidFill>
              <a:srgbClr val="DC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856232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766E"/>
                </a:solidFill>
              </a:defRPr>
            </a:pPr>
            <a:r>
              <a:t>APPLICATION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30552"/>
            <a:ext cx="494690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F2937"/>
                </a:solidFill>
              </a:defRPr>
            </a:pPr>
            <a:r>
              <a:t>C#  •  .NET / ASP.NET  •  ASP.NET Core  •  JavaScript  •  React  •  Node.js  •  EF / LINQ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349240" cy="1234440"/>
          </a:xfrm>
          <a:prstGeom prst="roundRect">
            <a:avLst/>
          </a:prstGeom>
          <a:solidFill>
            <a:srgbClr val="F2F6F8"/>
          </a:solidFill>
          <a:ln>
            <a:solidFill>
              <a:srgbClr val="DC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856232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766E"/>
                </a:solidFill>
              </a:defRPr>
            </a:pPr>
            <a:r>
              <a:t>APIs +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130552"/>
            <a:ext cx="494690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F2937"/>
                </a:solidFill>
              </a:defRPr>
            </a:pPr>
            <a:r>
              <a:t>REST  •  SOAP / Web Services  •  GraphQL  •  JSON  •  API Contracts  •  Dynamics 365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2"/>
            <a:ext cx="5349240" cy="1234440"/>
          </a:xfrm>
          <a:prstGeom prst="roundRect">
            <a:avLst/>
          </a:prstGeom>
          <a:solidFill>
            <a:srgbClr val="F2F6F8"/>
          </a:solidFill>
          <a:ln>
            <a:solidFill>
              <a:srgbClr val="DC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346704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766E"/>
                </a:solidFill>
              </a:defRPr>
            </a:pPr>
            <a:r>
              <a:t>DATA +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621024"/>
            <a:ext cx="494690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F2937"/>
                </a:solidFill>
              </a:defRPr>
            </a:pPr>
            <a:r>
              <a:t>SQL Server  •  PostgreSQL  •  MySQL  •  Redis  •  Power BI  •  Superset  •  Python / pandas  •  Power Query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82112"/>
            <a:ext cx="5349240" cy="1234440"/>
          </a:xfrm>
          <a:prstGeom prst="roundRect">
            <a:avLst/>
          </a:prstGeom>
          <a:solidFill>
            <a:srgbClr val="F2F6F8"/>
          </a:solidFill>
          <a:ln>
            <a:solidFill>
              <a:srgbClr val="DC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3346704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766E"/>
                </a:solidFill>
              </a:defRPr>
            </a:pPr>
            <a:r>
              <a:t>DEVOPS + TOOLING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621024"/>
            <a:ext cx="494690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F2937"/>
                </a:solidFill>
              </a:defRPr>
            </a:pPr>
            <a:r>
              <a:t>Git / TFS  •  Jenkins  •  Docker  •  Postman  •  Swagger / OpenAPI  •  Visual Studio / VS Code  •  Rider  •  DataGrip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672584"/>
            <a:ext cx="5349240" cy="1234440"/>
          </a:xfrm>
          <a:prstGeom prst="roundRect">
            <a:avLst/>
          </a:prstGeom>
          <a:solidFill>
            <a:srgbClr val="F2F6F8"/>
          </a:solidFill>
          <a:ln>
            <a:solidFill>
              <a:srgbClr val="DC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837176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766E"/>
                </a:solidFill>
              </a:defRPr>
            </a:pPr>
            <a:r>
              <a:t>ENTERPRISE +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5111496"/>
            <a:ext cx="494690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F2937"/>
                </a:solidFill>
              </a:defRPr>
            </a:pPr>
            <a:r>
              <a:t>Microsoft 365  •  Endpoint / Device Management  •  Patch / Vulnerability Management  •  Service Desk  •  SLA / Incident / RCA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672584"/>
            <a:ext cx="5349240" cy="1234440"/>
          </a:xfrm>
          <a:prstGeom prst="roundRect">
            <a:avLst/>
          </a:prstGeom>
          <a:solidFill>
            <a:srgbClr val="F2F6F8"/>
          </a:solidFill>
          <a:ln>
            <a:solidFill>
              <a:srgbClr val="DC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4837176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766E"/>
                </a:solidFill>
              </a:defRPr>
            </a:pPr>
            <a:r>
              <a:t>PLATFORMS + 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5111496"/>
            <a:ext cx="4946904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F2937"/>
                </a:solidFill>
              </a:defRPr>
            </a:pPr>
            <a:r>
              <a:t>Umbraco  •  Kentico  •  Kendo UI  •  Telerik  •  Infragistics  •  Crystal Reports  •  HTML / CSS  •  Bootstrap  •  jQuery / AJAX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6364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36273"/>
                </a:solidFill>
              </a:defRPr>
            </a:pPr>
            <a:r>
              <a:t>Technology list reflects confirmed experience; technologies are not assigned to a specific employer or project unless explicitly supported by the career history.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