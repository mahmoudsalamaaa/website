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6858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ADDDD7"/>
                </a:solidFill>
                <a:latin typeface="Aptos"/>
              </a:rPr>
              <a:t>EXECUTIVE TECHNOLOGY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6766560" cy="11887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Mahmoud
Salama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6217920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0">
                <a:solidFill>
                  <a:srgbClr val="DAE7ED"/>
                </a:solidFill>
                <a:latin typeface="Aptos"/>
              </a:rPr>
              <a:t>Technology leadership built on
hands-on engineering depth.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57800"/>
            <a:ext cx="667512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ADDDD7"/>
                </a:solidFill>
                <a:latin typeface="Aptos"/>
              </a:rPr>
              <a:t>Technology Leadership  •  Digital Transformation  •  Enterprise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66751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DAE7ED"/>
                </a:solidFill>
                <a:latin typeface="Aptos"/>
              </a:rPr>
              <a:t>Cairo, Egypt  |  ma7moud.salamaaa@gmail.com  |  +20 122 015 6077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731520"/>
            <a:ext cx="31089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CAREER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417320"/>
            <a:ext cx="182880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18+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1527048"/>
            <a:ext cx="1280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D6F2EE"/>
                </a:solidFill>
                <a:latin typeface="Aptos"/>
              </a:rPr>
              <a:t>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560320"/>
            <a:ext cx="182880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670048"/>
            <a:ext cx="1280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D6F2EE"/>
                </a:solidFill>
                <a:latin typeface="Aptos"/>
              </a:rPr>
              <a:t>TECH 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703320"/>
            <a:ext cx="182880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3813048"/>
            <a:ext cx="1280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D6F2EE"/>
                </a:solidFill>
                <a:latin typeface="Aptos"/>
              </a:rPr>
              <a:t>DIRECT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846320"/>
            <a:ext cx="182880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~20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4956048"/>
            <a:ext cx="1280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D6F2EE"/>
                </a:solidFill>
                <a:latin typeface="Aptos"/>
              </a:rPr>
              <a:t>SUPPORT + CX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8998B"/>
                </a:solidFill>
                <a:latin typeface="Aptos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5156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F30"/>
                </a:solidFill>
                <a:latin typeface="Aptos"/>
              </a:rPr>
              <a:t>Build. Lead. Operate. Transform.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380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A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647380"/>
                </a:solidFill>
                <a:latin typeface="Aptos"/>
              </a:rPr>
              <a:t>MAHMOUD SALAMA  /  EXECUTIVE TECHNOLOGY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858000" cy="10058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C1F30"/>
                </a:solidFill>
                <a:latin typeface="Aptos"/>
              </a:rPr>
              <a:t>From software engineering to national-scale technology leadership - without losing technical fluency.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6217920" cy="1371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380"/>
                </a:solidFill>
                <a:latin typeface="Aptos"/>
              </a:rPr>
              <a:t>A career spanning .NET engineering, e-government delivery, enterprise architecture, national platforms, data and integration, customer service, technical support and digital transformation across Egypt and Oman.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737360"/>
            <a:ext cx="3977639" cy="105156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737360"/>
            <a:ext cx="50292" cy="105156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892807"/>
            <a:ext cx="3611879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267712"/>
            <a:ext cx="3611879" cy="411479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Software, platforms, databases, APIs, integrations and reusable foundations.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907792"/>
            <a:ext cx="3977639" cy="105156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2907792"/>
            <a:ext cx="50292" cy="1051560"/>
          </a:xfrm>
          <a:prstGeom prst="rect">
            <a:avLst/>
          </a:prstGeom>
          <a:solidFill>
            <a:srgbClr val="C3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3063240"/>
            <a:ext cx="3611879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438144"/>
            <a:ext cx="3611879" cy="411479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Teams, roadmaps, delivery governance, architecture, vendors and stakeholders.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078224"/>
            <a:ext cx="3977639" cy="105156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4078224"/>
            <a:ext cx="50292" cy="105156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4233672"/>
            <a:ext cx="3611879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OPERATE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608576"/>
            <a:ext cx="3611879" cy="411479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Customer service, technical support, incidents, training, adoption and continuity.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5248656"/>
            <a:ext cx="3977639" cy="105156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43800" y="5248656"/>
            <a:ext cx="50292" cy="1051560"/>
          </a:xfrm>
          <a:prstGeom prst="rect">
            <a:avLst/>
          </a:prstGeom>
          <a:solidFill>
            <a:srgbClr val="C3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5404104"/>
            <a:ext cx="3611879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5779008"/>
            <a:ext cx="3611879" cy="411479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Processes, enterprise platforms, data, governance and institutional capability.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8998B"/>
                </a:solidFill>
                <a:latin typeface="Aptos"/>
              </a:rPr>
              <a:t>UPA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5156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F30"/>
                </a:solidFill>
                <a:latin typeface="Aptos"/>
              </a:rPr>
              <a:t>National technology leadership in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380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A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647380"/>
                </a:solidFill>
                <a:latin typeface="Aptos"/>
              </a:rPr>
              <a:t>MAHMOUD SALAMA  /  EXECUTIVE TECHNOLOGY PORTFOLIO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51460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2402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~60K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95144"/>
            <a:ext cx="2240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22402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enterprise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737360"/>
            <a:ext cx="251460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19"/>
            <a:ext cx="22402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~90K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95144"/>
            <a:ext cx="2240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FACILITIES / ENTITIES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23744"/>
            <a:ext cx="22402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enterprise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251460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22402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~300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95144"/>
            <a:ext cx="2240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SUPPLIERS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23744"/>
            <a:ext cx="22402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enterprise scale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737360"/>
            <a:ext cx="251460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3999" y="1874519"/>
            <a:ext cx="22402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~1M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999" y="2295144"/>
            <a:ext cx="2240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TRANSACTIONS /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2523744"/>
            <a:ext cx="22402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operating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337560"/>
            <a:ext cx="50292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998B"/>
                </a:solidFill>
                <a:latin typeface="Aptos"/>
              </a:rPr>
              <a:t>LEADERSHIP OPERATING MODEL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94760"/>
            <a:ext cx="251460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931920"/>
            <a:ext cx="22402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54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352544"/>
            <a:ext cx="2240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TECHNOLOGY ORGANIZATION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81144"/>
            <a:ext cx="22402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current total team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3794760"/>
            <a:ext cx="251460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3931920"/>
            <a:ext cx="22402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352544"/>
            <a:ext cx="2240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DIRECT 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581144"/>
            <a:ext cx="22402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current reporting structure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794760"/>
            <a:ext cx="251460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931920"/>
            <a:ext cx="22402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~20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352544"/>
            <a:ext cx="2240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SUPPORT + CUSTOMER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581144"/>
            <a:ext cx="224028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inside the 54-person organization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3794760"/>
            <a:ext cx="233172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9720" y="3794760"/>
            <a:ext cx="50292" cy="1143000"/>
          </a:xfrm>
          <a:prstGeom prst="rect">
            <a:avLst/>
          </a:prstGeom>
          <a:solidFill>
            <a:srgbClr val="C3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3950208"/>
            <a:ext cx="19659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ONE OPERATING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4325112"/>
            <a:ext cx="19659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Strategy + architecture + delivery + service operations + data + governance.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8998B"/>
                </a:solidFill>
                <a:latin typeface="Aptos"/>
              </a:rPr>
              <a:t>CAREER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5156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F30"/>
                </a:solidFill>
                <a:latin typeface="Aptos"/>
              </a:rPr>
              <a:t>Progressively wider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380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A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647380"/>
                </a:solidFill>
                <a:latin typeface="Aptos"/>
              </a:rPr>
              <a:t>MAHMOUD SALAMA  /  EXECUTIVE TECHNOLOGY PORTFOLIO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063240"/>
            <a:ext cx="10149840" cy="54864"/>
          </a:xfrm>
          <a:prstGeom prst="rect">
            <a:avLst/>
          </a:prstGeom>
          <a:solidFill>
            <a:srgbClr val="DA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852928"/>
            <a:ext cx="310896" cy="310896"/>
          </a:xfrm>
          <a:prstGeom prst="round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37360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998B"/>
                </a:solidFill>
                <a:latin typeface="Aptos"/>
              </a:rPr>
              <a:t>2011-16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57400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1F30"/>
                </a:solidFill>
                <a:latin typeface="Aptos"/>
              </a:rPr>
              <a:t>KEYFRAME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429000"/>
            <a:ext cx="24688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1F30"/>
                </a:solidFill>
                <a:latin typeface="Aptos"/>
              </a:rPr>
              <a:t>Development Team Leader + Senior Full-Stack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4224528"/>
            <a:ext cx="246888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6-person team | 150+ major &amp; mid-sized engagements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2852928"/>
            <a:ext cx="310896" cy="310896"/>
          </a:xfrm>
          <a:prstGeom prst="round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737360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998B"/>
                </a:solidFill>
                <a:latin typeface="Aptos"/>
              </a:rPr>
              <a:t>2016-20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057400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1F30"/>
                </a:solidFill>
                <a:latin typeface="Aptos"/>
              </a:rPr>
              <a:t>INTEGRAL / OMAN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3429000"/>
            <a:ext cx="24688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1F30"/>
                </a:solidFill>
                <a:latin typeface="Aptos"/>
              </a:rPr>
              <a:t>Development Team Leader + Senior Full-Stack 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4224528"/>
            <a:ext cx="246888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10+ developers | 15+ government/enterprise platforms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852928"/>
            <a:ext cx="310896" cy="310896"/>
          </a:xfrm>
          <a:prstGeom prst="round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737360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998B"/>
                </a:solidFill>
                <a:latin typeface="Aptos"/>
              </a:rPr>
              <a:t>2020-25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057400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1F30"/>
                </a:solidFill>
                <a:latin typeface="Aptos"/>
              </a:rPr>
              <a:t>UPA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3429000"/>
            <a:ext cx="24688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1F30"/>
                </a:solidFill>
                <a:latin typeface="Aptos"/>
              </a:rPr>
              <a:t>General Manager - Information Systems &amp; Digital Transformation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224528"/>
            <a:ext cx="246888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Applications, systems, technical support, customer 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2852928"/>
            <a:ext cx="310896" cy="310896"/>
          </a:xfrm>
          <a:prstGeom prst="round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432" y="1737360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998B"/>
                </a:solidFill>
                <a:latin typeface="Aptos"/>
              </a:rPr>
              <a:t>2025-NOW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2057400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1F30"/>
                </a:solidFill>
                <a:latin typeface="Aptos"/>
              </a:rPr>
              <a:t>UPA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429000"/>
            <a:ext cx="24688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1F30"/>
                </a:solidFill>
                <a:latin typeface="Aptos"/>
              </a:rPr>
              <a:t>Head of Central Administration - IS &amp; Digital Transformation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4224528"/>
            <a:ext cx="246888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Strategy, architecture, delivery, service operations,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8998B"/>
                </a:solidFill>
                <a:latin typeface="Aptos"/>
              </a:rPr>
              <a:t>UPA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5156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F30"/>
                </a:solidFill>
                <a:latin typeface="Aptos"/>
              </a:rPr>
              <a:t>Technology as an enterprise operating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380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A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647380"/>
                </a:solidFill>
                <a:latin typeface="Aptos"/>
              </a:rPr>
              <a:t>MAHMOUD SALAMA  /  EXECUTIVE TECHNOLOGY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206240" cy="6400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0C1F30"/>
                </a:solidFill>
                <a:latin typeface="Aptos"/>
              </a:rPr>
              <a:t>Current executive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16459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8998B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4800600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A2530"/>
                </a:solidFill>
                <a:latin typeface="Aptos"/>
              </a:rPr>
              <a:t>Technology strategy &amp; digital-transformation roadmaps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53512"/>
            <a:ext cx="16459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8998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4800600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A2530"/>
                </a:solidFill>
                <a:latin typeface="Aptos"/>
              </a:rPr>
              <a:t>Enterprise &amp; solution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83864"/>
            <a:ext cx="16459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8998B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83864"/>
            <a:ext cx="4800600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A2530"/>
                </a:solidFill>
                <a:latin typeface="Aptos"/>
              </a:rPr>
              <a:t>SDLC, portfolio and release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14215"/>
            <a:ext cx="16459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8998B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5"/>
            <a:ext cx="4800600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A2530"/>
                </a:solidFill>
                <a:latin typeface="Aptos"/>
              </a:rPr>
              <a:t>Data governance, reporting &amp; 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44568"/>
            <a:ext cx="16459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8998B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44568"/>
            <a:ext cx="4800600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A2530"/>
                </a:solidFill>
                <a:latin typeface="Aptos"/>
              </a:rPr>
              <a:t>Security controls, continuity &amp; technology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74920"/>
            <a:ext cx="16459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18998B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4800600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A2530"/>
                </a:solidFill>
                <a:latin typeface="Aptos"/>
              </a:rPr>
              <a:t>Vendor, stakeholder &amp; executive KPI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37360"/>
            <a:ext cx="2514600" cy="123444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737360"/>
            <a:ext cx="50292" cy="123444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892807"/>
            <a:ext cx="21488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NATIONAL PLATFORMS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267712"/>
            <a:ext cx="214884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Procurement and medical-supply platforms.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1737360"/>
            <a:ext cx="2514600" cy="123444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15400" y="1737360"/>
            <a:ext cx="50292" cy="1234440"/>
          </a:xfrm>
          <a:prstGeom prst="rect">
            <a:avLst/>
          </a:prstGeom>
          <a:solidFill>
            <a:srgbClr val="C3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892807"/>
            <a:ext cx="21488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DYNAMICS 365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267712"/>
            <a:ext cx="214884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Enterprise data and workflow integration.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246120"/>
            <a:ext cx="2514600" cy="123444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246120"/>
            <a:ext cx="50292" cy="1234440"/>
          </a:xfrm>
          <a:prstGeom prst="rect">
            <a:avLst/>
          </a:prstGeom>
          <a:solidFill>
            <a:srgbClr val="C3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401568"/>
            <a:ext cx="21488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HTA DIGITISATION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776472"/>
            <a:ext cx="214884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Workflow digitisation and evidence processes.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3246120"/>
            <a:ext cx="2514600" cy="123444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5400" y="3246120"/>
            <a:ext cx="50292" cy="123444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3401568"/>
            <a:ext cx="21488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TRACK &amp; TRACE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776472"/>
            <a:ext cx="214884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Multi-agency governance and interoperability.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754880"/>
            <a:ext cx="5257800" cy="123444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4754880"/>
            <a:ext cx="50292" cy="123444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910328"/>
            <a:ext cx="48920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ANALYTICS + 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285232"/>
            <a:ext cx="489204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Reporting architecture, reconciliation, data quality, operational analytics and executive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ADDDD7"/>
                </a:solidFill>
                <a:latin typeface="Aptos"/>
              </a:rPr>
              <a:t>CUSTOMER SERVICE + TECHNICAL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7498079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Service ownership is a core
leadership responsibility.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585216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DAE7ED"/>
                </a:solidFill>
                <a:latin typeface="Aptos"/>
              </a:rPr>
              <a:t>Not a side note. A ~20-person operation inside the 54-person technology organization - connecting users, operations and engineering.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94760"/>
            <a:ext cx="237744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931920"/>
            <a:ext cx="21031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~20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52544"/>
            <a:ext cx="2103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81144"/>
            <a:ext cx="210312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support/customer-service operation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3794760"/>
            <a:ext cx="237744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3931920"/>
            <a:ext cx="21031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National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4352544"/>
            <a:ext cx="2103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4581144"/>
            <a:ext cx="210312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enterprise platform users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3794760"/>
            <a:ext cx="237744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3931920"/>
            <a:ext cx="21031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End-to-end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352544"/>
            <a:ext cx="2103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581144"/>
            <a:ext cx="210312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case intake through adoption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731520"/>
            <a:ext cx="2880360" cy="1170432"/>
          </a:xfrm>
          <a:prstGeom prst="roundRect">
            <a:avLst/>
          </a:prstGeom>
          <a:solidFill>
            <a:srgbClr val="163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868680"/>
            <a:ext cx="2560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ADDDD7"/>
                </a:solidFill>
                <a:latin typeface="Aptos"/>
              </a:rPr>
              <a:t>SERVICE DESK / CALL CENTER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1207008"/>
            <a:ext cx="25603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Technical + functional support, CRM cases, access/data and integration issues.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2148840"/>
            <a:ext cx="2880360" cy="1170432"/>
          </a:xfrm>
          <a:prstGeom prst="roundRect">
            <a:avLst/>
          </a:prstGeom>
          <a:solidFill>
            <a:srgbClr val="163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05672" y="2286000"/>
            <a:ext cx="2560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ADDDD7"/>
                </a:solidFill>
                <a:latin typeface="Aptos"/>
              </a:rPr>
              <a:t>ESCALATION + RCA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2624328"/>
            <a:ext cx="25603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Incident escalation, engineering coordination, root-cause and repeatable procedures.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3566160"/>
            <a:ext cx="2880360" cy="1170432"/>
          </a:xfrm>
          <a:prstGeom prst="roundRect">
            <a:avLst/>
          </a:prstGeom>
          <a:solidFill>
            <a:srgbClr val="163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05672" y="3703320"/>
            <a:ext cx="2560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ADDDD7"/>
                </a:solidFill>
                <a:latin typeface="Aptos"/>
              </a:rPr>
              <a:t>ONBOARDING +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5672" y="4041648"/>
            <a:ext cx="25603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Nationwide onboarding, training, knowledge transfer and adoption support.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4983480"/>
            <a:ext cx="2880360" cy="1170432"/>
          </a:xfrm>
          <a:prstGeom prst="roundRect">
            <a:avLst/>
          </a:prstGeom>
          <a:solidFill>
            <a:srgbClr val="163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05672" y="5120640"/>
            <a:ext cx="2560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ADDDD7"/>
                </a:solidFill>
                <a:latin typeface="Aptos"/>
              </a:rPr>
              <a:t>CONTINUOUS IMPROVEMENT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5672" y="5458968"/>
            <a:ext cx="25603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Feedback loops, service governance and operational improvement.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8998B"/>
                </a:solidFill>
                <a:latin typeface="Aptos"/>
              </a:rPr>
              <a:t>OPERATING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5156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F30"/>
                </a:solidFill>
                <a:latin typeface="Aptos"/>
              </a:rPr>
              <a:t>Architecture + delivery +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380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A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647380"/>
                </a:solidFill>
                <a:latin typeface="Aptos"/>
              </a:rPr>
              <a:t>MAHMOUD SALAMA  /  EXECUTIVE TECHNOLOGY PORTFOLIO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880360"/>
            <a:ext cx="2514600" cy="1325880"/>
          </a:xfrm>
          <a:prstGeom prst="roundRect">
            <a:avLst/>
          </a:prstGeom>
          <a:solidFill>
            <a:srgbClr val="0C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3154680"/>
            <a:ext cx="20574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ENTERPRISE
TECHNOLOGY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2834640" cy="132588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50292" cy="132588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92807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67712"/>
            <a:ext cx="246888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Enterprise / solution architecture, workflow, RBAC, integration and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2834640" cy="132588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297680"/>
            <a:ext cx="50292" cy="132588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53128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28032"/>
            <a:ext cx="246888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Requirements, SDLC, QA/UAT, release readiness and stabilization.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737360"/>
            <a:ext cx="2834640" cy="132588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41080" y="1737360"/>
            <a:ext cx="50292" cy="132588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59" y="1892807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DATA +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59" y="2267712"/>
            <a:ext cx="246888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APIs, database design, master data, quality and interoperability.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4297680"/>
            <a:ext cx="2834640" cy="132588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4297680"/>
            <a:ext cx="50292" cy="132588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59" y="4453128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SERVICE 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59" y="4828032"/>
            <a:ext cx="246888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Support, incident/RCA, release, continuity, training and adoption.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1691640"/>
            <a:ext cx="44805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8998B"/>
                </a:solidFill>
                <a:latin typeface="Aptos"/>
              </a:rPr>
              <a:t>Governance • Security • Risk • AI-enabled 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8998B"/>
                </a:solidFill>
                <a:latin typeface="Aptos"/>
              </a:rPr>
              <a:t>INTEGRAL SOLUTIONS / OMAN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5156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F30"/>
                </a:solidFill>
                <a:latin typeface="Aptos"/>
              </a:rPr>
              <a:t>Government platforms - leadership + hands-on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380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A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647380"/>
                </a:solidFill>
                <a:latin typeface="Aptos"/>
              </a:rPr>
              <a:t>MAHMOUD SALAMA  /  EXECUTIVE TECHNOLOGY PORTFOLIO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37744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1031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10+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03704"/>
            <a:ext cx="2103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32304"/>
            <a:ext cx="210312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team 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645920"/>
            <a:ext cx="237744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1783080"/>
            <a:ext cx="21031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15+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203704"/>
            <a:ext cx="2103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2432304"/>
            <a:ext cx="210312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government / enterprise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645920"/>
            <a:ext cx="237744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783080"/>
            <a:ext cx="21031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~1M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203704"/>
            <a:ext cx="2103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PORTAL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432304"/>
            <a:ext cx="210312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Educational Portal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1645920"/>
            <a:ext cx="306324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58200" y="1645920"/>
            <a:ext cx="50292" cy="1143000"/>
          </a:xfrm>
          <a:prstGeom prst="rect">
            <a:avLst/>
          </a:prstGeom>
          <a:solidFill>
            <a:srgbClr val="C3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1801368"/>
            <a:ext cx="26974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EMPLOYER / CLIENT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176272"/>
            <a:ext cx="26974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Integral Solutions LLC was the employer; ministries and agencies were client assignments.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337560"/>
            <a:ext cx="516636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337560"/>
            <a:ext cx="50292" cy="114300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3493008"/>
            <a:ext cx="4800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Educational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867911"/>
            <a:ext cx="48006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Analysis, application/database development, reporting, testing, rollout and support.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337560"/>
            <a:ext cx="516636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3337560"/>
            <a:ext cx="50292" cy="1143000"/>
          </a:xfrm>
          <a:prstGeom prst="rect">
            <a:avLst/>
          </a:prstGeom>
          <a:solidFill>
            <a:srgbClr val="C3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493008"/>
            <a:ext cx="4800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Maktabi / Morasalat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867911"/>
            <a:ext cx="48006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Correspondence lifecycle, routing, workflows, reports, database, testing and deployment.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754880"/>
            <a:ext cx="516636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754880"/>
            <a:ext cx="50292" cy="114300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4910328"/>
            <a:ext cx="4800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Recruitment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285232"/>
            <a:ext cx="48006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End-to-end technical ownership; associated with the Sultan Qaboos Award.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754880"/>
            <a:ext cx="516636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4754880"/>
            <a:ext cx="50292" cy="1143000"/>
          </a:xfrm>
          <a:prstGeom prst="rect">
            <a:avLst/>
          </a:prstGeom>
          <a:solidFill>
            <a:srgbClr val="C3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910328"/>
            <a:ext cx="4800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Al Wahat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285232"/>
            <a:ext cx="48006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Royal Court Affairs - membership, reservations, approvals and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8998B"/>
                </a:solidFill>
                <a:latin typeface="Aptos"/>
              </a:rPr>
              <a:t>KEYFRAME EGYPT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5156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F30"/>
                </a:solidFill>
                <a:latin typeface="Aptos"/>
              </a:rPr>
              <a:t>Reusable engineering at portfolio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380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A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647380"/>
                </a:solidFill>
                <a:latin typeface="Aptos"/>
              </a:rPr>
              <a:t>MAHMOUD SALAMA  /  EXECUTIVE TECHNOLOGY PORTFOLIO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37744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1031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03704"/>
            <a:ext cx="2103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32304"/>
            <a:ext cx="210312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confirmed team size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645920"/>
            <a:ext cx="237744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1783080"/>
            <a:ext cx="21031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150+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203704"/>
            <a:ext cx="2103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ENGAGEMENTS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2432304"/>
            <a:ext cx="210312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major &amp; mid-sized; small excluded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645920"/>
            <a:ext cx="2377440" cy="114300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783080"/>
            <a:ext cx="21031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Multiple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203704"/>
            <a:ext cx="21031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8998B"/>
                </a:solidFill>
                <a:latin typeface="Aptos"/>
              </a:rPr>
              <a:t>AWARDS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432304"/>
            <a:ext cx="210312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380"/>
                </a:solidFill>
                <a:latin typeface="Aptos"/>
              </a:rPr>
              <a:t>Yashfeen named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54680"/>
            <a:ext cx="49377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C1F30"/>
                </a:solidFill>
                <a:latin typeface="Aptos"/>
              </a:rPr>
              <a:t>Build once. Adapt intelligently.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03320"/>
            <a:ext cx="5029200" cy="10515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380"/>
                </a:solidFill>
                <a:latin typeface="Aptos"/>
              </a:rPr>
              <a:t>Reusable .NET CMS/publishing and conference-management foundations supported delivery across government, healthcare, education, events and commercial sectors.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063240"/>
            <a:ext cx="2606040" cy="118872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3063240"/>
            <a:ext cx="50292" cy="118872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218688"/>
            <a:ext cx="22402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YASHFEEN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593592"/>
            <a:ext cx="224028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Healthcare portal delivered independently and recognized in an ITIDA competition.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3063240"/>
            <a:ext cx="2606040" cy="118872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3063240"/>
            <a:ext cx="50292" cy="1188720"/>
          </a:xfrm>
          <a:prstGeom prst="rect">
            <a:avLst/>
          </a:prstGeom>
          <a:solidFill>
            <a:srgbClr val="C3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59" y="3218688"/>
            <a:ext cx="22402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CONFERENCE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3593592"/>
            <a:ext cx="224028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Registration, schedules, speakers, evaluation, certificates and reporting.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4526280"/>
            <a:ext cx="2606040" cy="118872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0760" y="4526280"/>
            <a:ext cx="50292" cy="1188720"/>
          </a:xfrm>
          <a:prstGeom prst="rect">
            <a:avLst/>
          </a:prstGeom>
          <a:solidFill>
            <a:srgbClr val="C3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681728"/>
            <a:ext cx="22402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GOVERNMENT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056632"/>
            <a:ext cx="224028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MOHP, MSAD, public-service and institutional initiatives.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4526280"/>
            <a:ext cx="2606040" cy="118872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69680" y="4526280"/>
            <a:ext cx="50292" cy="118872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59" y="4681728"/>
            <a:ext cx="22402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COMMERCIAL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59" y="5056632"/>
            <a:ext cx="224028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Electrolux multi-country websites and numerous business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8998B"/>
                </a:solidFill>
                <a:latin typeface="Aptos"/>
              </a:rPr>
              <a:t>CAPABILITY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5156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F30"/>
                </a:solidFill>
                <a:latin typeface="Aptos"/>
              </a:rPr>
              <a:t>Executive breadth backed by technical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380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A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647380"/>
                </a:solidFill>
                <a:latin typeface="Aptos"/>
              </a:rPr>
              <a:t>MAHMOUD SALAMA  /  EXECUTIVE TECHNOLOGY PORTFOLIO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383280" cy="155448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0292" cy="155448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47088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STRATEGY +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21992"/>
            <a:ext cx="301752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Roadmaps, portfolios, operating models, stakeholders, controls and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383280" cy="155448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91640"/>
            <a:ext cx="50292" cy="1554480"/>
          </a:xfrm>
          <a:prstGeom prst="rect">
            <a:avLst/>
          </a:prstGeom>
          <a:solidFill>
            <a:srgbClr val="C3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ENTERPRISE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21992"/>
            <a:ext cx="301752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Configurable platforms, solution architecture, workflow/RBAC and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91640"/>
            <a:ext cx="3383280" cy="155448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691640"/>
            <a:ext cx="50292" cy="155448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1847088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ENGINEERING +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221992"/>
            <a:ext cx="301752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C#/.NET, APIs, SQL, SDLC, QA/UAT, release and production.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3383280" cy="155448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657600"/>
            <a:ext cx="50292" cy="1554480"/>
          </a:xfrm>
          <a:prstGeom prst="rect">
            <a:avLst/>
          </a:prstGeom>
          <a:solidFill>
            <a:srgbClr val="C3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813048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DATA +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187952"/>
            <a:ext cx="301752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Database design, reporting, REST/SOAP, master data and interoperability.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657600"/>
            <a:ext cx="3383280" cy="155448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657600"/>
            <a:ext cx="50292" cy="155448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813048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SERVICE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187952"/>
            <a:ext cx="301752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Customer service, support, incidents, training, adoption and continuity.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3657600"/>
            <a:ext cx="3383280" cy="155448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9" y="3657600"/>
            <a:ext cx="50292" cy="1554480"/>
          </a:xfrm>
          <a:prstGeom prst="rect">
            <a:avLst/>
          </a:prstGeom>
          <a:solidFill>
            <a:srgbClr val="C3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9" y="3813048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AI-ENABLED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9" y="4187952"/>
            <a:ext cx="301752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Generative AI, prompt engineering, coding, analysis, SQL and prototyping.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8998B"/>
                </a:solidFill>
                <a:latin typeface="Aptos"/>
              </a:rPr>
              <a:t>GOVERNANCE +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5156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F30"/>
                </a:solidFill>
                <a:latin typeface="Aptos"/>
              </a:rPr>
              <a:t>Institutional contribution beyond platform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380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18288"/>
          </a:xfrm>
          <a:prstGeom prst="rect">
            <a:avLst/>
          </a:prstGeom>
          <a:solidFill>
            <a:srgbClr val="DA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647380"/>
                </a:solidFill>
                <a:latin typeface="Aptos"/>
              </a:rPr>
              <a:t>MAHMOUD SALAMA  /  EXECUTIVE TECHNOLOGY PORTFOLIO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383280" cy="141732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0292" cy="141732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47088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B-READY / EGYPT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21992"/>
            <a:ext cx="30175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Egypt-side digital-transformation committee contribution supporting the World Bank Group B-READY assessment.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91640"/>
            <a:ext cx="3383280" cy="141732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691640"/>
            <a:ext cx="50292" cy="1417320"/>
          </a:xfrm>
          <a:prstGeom prst="rect">
            <a:avLst/>
          </a:prstGeom>
          <a:solidFill>
            <a:srgbClr val="C3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847088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TRACK &amp; TRACE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21992"/>
            <a:ext cx="30175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Multi-agency governance/interoperability contribution involving national stakeholders.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91640"/>
            <a:ext cx="3383280" cy="1417320"/>
          </a:xfrm>
          <a:prstGeom prst="roundRect">
            <a:avLst/>
          </a:prstGeom>
          <a:solidFill>
            <a:srgbClr val="F2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1691640"/>
            <a:ext cx="50292" cy="1417320"/>
          </a:xfrm>
          <a:prstGeom prst="rect">
            <a:avLst/>
          </a:prstGeom>
          <a:solidFill>
            <a:srgbClr val="18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5" y="1847088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1F30"/>
                </a:solidFill>
                <a:latin typeface="Aptos"/>
              </a:rPr>
              <a:t>BLOOD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2221992"/>
            <a:ext cx="301752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380"/>
                </a:solidFill>
                <a:latin typeface="Aptos"/>
              </a:rPr>
              <a:t>Governance and oversight contribution at national level.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8998B"/>
                </a:solidFill>
                <a:latin typeface="Aptos"/>
              </a:rPr>
              <a:t>RECOGNITION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475488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Sultan Qaboos Award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92040"/>
            <a:ext cx="4754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380"/>
                </a:solidFill>
                <a:latin typeface="Aptos"/>
              </a:rPr>
              <a:t>Associated with the Oman Ministry of Education Recruitment System.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160520"/>
            <a:ext cx="475488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1F30"/>
                </a:solidFill>
                <a:latin typeface="Aptos"/>
              </a:rPr>
              <a:t>Yashfeen / ITIDA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892040"/>
            <a:ext cx="4754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380"/>
                </a:solidFill>
                <a:latin typeface="Aptos"/>
              </a:rPr>
              <a:t>Confirmed named award-recognized Keyframe solution.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ADDDD7"/>
                </a:solidFill>
                <a:latin typeface="Aptos"/>
              </a:rPr>
              <a:t>EXECUTIVE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8046720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Engineering depth.
Executive accountability.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6766560" cy="10515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DAE7ED"/>
                </a:solidFill>
                <a:latin typeface="Aptos"/>
              </a:rPr>
              <a:t>A technology leader who can connect strategy to architecture, architecture to delivery, delivery to operations, and operations back to the user.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6858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ADDDD7"/>
                </a:solidFill>
                <a:latin typeface="Aptos"/>
              </a:rPr>
              <a:t>mahmoud-salama.vercel.app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85232"/>
            <a:ext cx="6858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AE7ED"/>
                </a:solidFill>
                <a:latin typeface="Aptos"/>
              </a:rPr>
              <a:t>linkedin.com/in/mahmoud-salama-30249b34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6858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AE7ED"/>
                </a:solidFill>
                <a:latin typeface="Aptos"/>
              </a:rPr>
              <a:t>ma7moud.salamaaa@gmail.com  |  +20 122 015 6077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143000"/>
            <a:ext cx="182880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18+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1280160"/>
            <a:ext cx="11887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ADDDD7"/>
                </a:solidFill>
                <a:latin typeface="Aptos"/>
              </a:rPr>
              <a:t>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514600"/>
            <a:ext cx="182880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560" y="2651760"/>
            <a:ext cx="11887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ADDDD7"/>
                </a:solidFill>
                <a:latin typeface="Aptos"/>
              </a:rPr>
              <a:t>TECH 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886200"/>
            <a:ext cx="182880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~20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4023360"/>
            <a:ext cx="11887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ADDDD7"/>
                </a:solidFill>
                <a:latin typeface="Aptos"/>
              </a:rPr>
              <a:t>SUPPORT + 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